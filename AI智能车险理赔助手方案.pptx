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029200" cy="50292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13766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4137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车险理赔  ·  AI 智能化解决方案 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让理赔快 3 倍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4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智能车险理赔助手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节省理赔员时间  ·  提升车主体验  ·  全程合规可审计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方案演示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今日议程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334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64008" cy="15727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理赔员、车主、合规的三大挑战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70432"/>
            <a:ext cx="26334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70432"/>
            <a:ext cx="64008" cy="1572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28016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01568" y="18562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解决方案全景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1568" y="224942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三方协作的 AI 智能理赔体系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0176" y="1170432"/>
            <a:ext cx="26334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0176" y="1170432"/>
            <a:ext cx="64008" cy="15727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28016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63056" y="18562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核心功能模块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63056" y="224942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五大功能深度解析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71216"/>
            <a:ext cx="26334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71216"/>
            <a:ext cx="64008" cy="15727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80944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" y="3557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 &amp; ROI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95020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量化收益与预期回报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871216"/>
            <a:ext cx="26334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871216"/>
            <a:ext cx="64008" cy="15727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980944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401568" y="3557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为什么选我们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01568" y="395020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四大竞争优势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0176" y="2871216"/>
            <a:ext cx="26334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0176" y="2871216"/>
            <a:ext cx="64008" cy="15727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980944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163056" y="3557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合作落地计划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63056" y="395020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三阶段快速部署路线图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2743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01  行业痛点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车险理赔面临的三大挑战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334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33472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0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理赔员时间碎片化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2304288"/>
            <a:ext cx="2304288" cy="274320"/>
          </a:xfrm>
          <a:prstGeom prst="rect">
            <a:avLst/>
          </a:prstGeom>
          <a:solidFill>
            <a:srgbClr val="E53935">
              <a:alpha val="15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042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单案平均沟通 10 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43784"/>
            <a:ext cx="91440" cy="914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1576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反复回答同样的材料问题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91440" cy="914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3697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缺材料催收占用大量精力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91440" cy="914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758184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核赔工作被挤压至边角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407408"/>
            <a:ext cx="91440" cy="914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7939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优秀理赔员被迫做话务工作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1417320"/>
            <a:ext cx="26334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417320"/>
            <a:ext cx="2633472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490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车主体验差、投诉高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83280" y="2304288"/>
            <a:ext cx="2304288" cy="274320"/>
          </a:xfrm>
          <a:prstGeom prst="rect">
            <a:avLst/>
          </a:prstGeom>
          <a:solidFill>
            <a:srgbClr val="F57C00">
              <a:alpha val="15000"/>
            </a:srgbClr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3042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C00"/>
                </a:solidFill>
              </a:rPr>
              <a:t>材料收集周期 3-5 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2843784"/>
            <a:ext cx="91440" cy="914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71576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不清楚需要准备哪些材料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3364992"/>
            <a:ext cx="91440" cy="914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23697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非工作时间无人及时响应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1568" y="3886200"/>
            <a:ext cx="91440" cy="914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758184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微信对话记录易丢失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4407408"/>
            <a:ext cx="91440" cy="914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27939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焦虑等待，满意度持续下降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0176" y="1417320"/>
            <a:ext cx="26334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0176" y="1417320"/>
            <a:ext cx="2633472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1490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合规风险敞口扩大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144768" y="2304288"/>
            <a:ext cx="2304288" cy="274320"/>
          </a:xfrm>
          <a:prstGeom prst="rect">
            <a:avLst/>
          </a:prstGeom>
          <a:solidFill>
            <a:srgbClr val="6A1B9A">
              <a:alpha val="15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3042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</a:rPr>
              <a:t>监管要求全流程留痕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2843784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271576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沟通记录存在个人手机微信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63056" y="3364992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323697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公司无法管控与统一审计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63056" y="3886200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758184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骗保纠纷历史记录难举证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63056" y="4407408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427939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监管合规压力逐年递增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974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02  解决方案全景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三方协作  ·  AI 最大限度托管理赔全流程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737360" cy="1188720"/>
          </a:xfrm>
          <a:prstGeom prst="rect">
            <a:avLst/>
          </a:prstGeom>
          <a:solidFill>
            <a:srgbClr val="EBF5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车主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报案  ·  上传材料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查询进度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48256" y="2057400"/>
            <a:ext cx="457200" cy="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05456" y="1261872"/>
            <a:ext cx="2286000" cy="159105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05456" y="1298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独立聊天室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05456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车主 + AI + 理赔员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05456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同一空间协作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05456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绕开微信限制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2057400"/>
            <a:ext cx="411480" cy="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39512" y="1463040"/>
            <a:ext cx="1737360" cy="1188720"/>
          </a:xfrm>
          <a:prstGeom prst="rect">
            <a:avLst/>
          </a:prstGeom>
          <a:solidFill>
            <a:srgbClr val="E0F2F1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1536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助手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30952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引导问答  ·  材料识别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3095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初步定损分析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13448" y="2057400"/>
            <a:ext cx="384048" cy="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97496" y="1463040"/>
            <a:ext cx="1444752" cy="1188720"/>
          </a:xfrm>
          <a:prstGeom prst="rect">
            <a:avLst/>
          </a:prstGeom>
          <a:solidFill>
            <a:srgbClr val="FFFDE7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153619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理赔员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88936" y="19385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监督审核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88936" y="21396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最终核赔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2834640" cy="347472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260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✓  7×24h AI 优先响应，无人值守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834640" cy="347472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9260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✓  超出能力自动转人工，无缝衔接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834640" cy="347472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29260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✓  全程对话留痕，随时可审计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19856"/>
          <a:ext cx="859536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角色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在系统里做什么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 介入程度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🚗 车主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报案、上传材料、查询进度、接收通知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全程 AI 引导，零等待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🤖 AI 助手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问答托管、材料识别审核、初步定损参考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主动响应，最大化托管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👨‍💼 理赔员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处理复杂问题、最终核赔决策、出险审批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AI 辅助，人工最终审批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777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77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03  功能 1/5  |  智能理赔材料清单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智能理赔材料清单  —  一次告知，精准到位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657600" cy="35204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00" cy="38404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99616"/>
            <a:ext cx="109728" cy="10972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49961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49961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41732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理赔材料清单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84708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必传材料 (5 项)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" y="2148840"/>
            <a:ext cx="3438144" cy="3108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" y="2231136"/>
            <a:ext cx="164592" cy="164592"/>
          </a:xfrm>
          <a:prstGeom prst="rect">
            <a:avLst/>
          </a:prstGeom>
          <a:solidFill>
            <a:srgbClr val="00897B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14884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驾驶证 (正反面)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2203704"/>
            <a:ext cx="548640" cy="2011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203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必传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1208" y="2496312"/>
            <a:ext cx="3438144" cy="3108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2578608"/>
            <a:ext cx="164592" cy="164592"/>
          </a:xfrm>
          <a:prstGeom prst="rect">
            <a:avLst/>
          </a:prstGeom>
          <a:solidFill>
            <a:srgbClr val="00897B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49631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行驶证 (正反面)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73552" y="2551176"/>
            <a:ext cx="548640" cy="2011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551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必传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1208" y="2843784"/>
            <a:ext cx="3438144" cy="3108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" y="2926080"/>
            <a:ext cx="164592" cy="164592"/>
          </a:xfrm>
          <a:prstGeom prst="rect">
            <a:avLst/>
          </a:prstGeom>
          <a:solidFill>
            <a:srgbClr val="00897B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284378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事故现场照片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73552" y="2898648"/>
            <a:ext cx="548640" cy="2011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898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必传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1208" y="3191256"/>
            <a:ext cx="3438144" cy="3108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" y="3273552"/>
            <a:ext cx="164592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31912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维修费用发票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73552" y="3246120"/>
            <a:ext cx="548640" cy="2011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246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必传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1208" y="3538728"/>
            <a:ext cx="3438144" cy="3108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" y="3621024"/>
            <a:ext cx="164592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" y="353872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银行卡信息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73552" y="3593592"/>
            <a:ext cx="548640" cy="2011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必传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208" y="393192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9A825"/>
                </a:solidFill>
              </a:rPr>
              <a:t>▸ 选传材料 (视情况)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1208" y="4224528"/>
            <a:ext cx="3438144" cy="3108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" y="4306824"/>
            <a:ext cx="164592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" y="422452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交警事故认定书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73552" y="4279392"/>
            <a:ext cx="54864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42793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选传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1208" y="4572000"/>
            <a:ext cx="3438144" cy="3108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" y="4654296"/>
            <a:ext cx="164592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" y="45720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第三方联系方式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4626864"/>
            <a:ext cx="54864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626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选传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43400" y="147218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0916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按事故类型自动生成清单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709160" y="1728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追尾 / 单方 / 多车碰撞，各场景不同材料要求，精准匹配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343400" y="2185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43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09160" y="2130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必传 vs 选传，清晰分类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709160" y="2441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减少车主困惑，材料缺失率下降 60%（预期目标）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43400" y="289864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09160" y="2843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后台可随时调整配置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70916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业务人员无需找技术，自主增删材料要求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343400" y="361188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434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709160" y="3557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47 种文件格式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709160" y="3867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图片、PDF、行驶证照片、微信截图等全覆盖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343400" y="4251960"/>
            <a:ext cx="4709160" cy="5486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目标：材料收集周期从 3-5 天缩短至 1 天内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73786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737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03  功能 2/5  |  AI 引导上传 &amp; 智能识别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逐步引导上传  —  不让车主对着清单发懵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657600" cy="35204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00" cy="38404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99616"/>
            <a:ext cx="109728" cy="10972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49961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49961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41732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理赔助手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1874520"/>
            <a:ext cx="2633472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87452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您好！请先拍驾驶证正面照片上传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61288" y="2331720"/>
            <a:ext cx="21945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[上传了 驾照正面.jpg]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" y="2761488"/>
            <a:ext cx="3438144" cy="438912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614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✓ 识别成功：驾驶证正面，有效期内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3291840"/>
            <a:ext cx="2633472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291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请继续上传驾驶证反面 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61288" y="3730752"/>
            <a:ext cx="21945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3730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[上传了 驾照反面.jpg]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" y="4169664"/>
            <a:ext cx="3438144" cy="438912"/>
          </a:xfrm>
          <a:prstGeom prst="rect">
            <a:avLst/>
          </a:prstGeom>
          <a:solidFill>
            <a:srgbClr val="E53935">
              <a:alpha val="12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696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3935"/>
                </a:solidFill>
              </a:rPr>
              <a:t>⚠ 图片模糊，请重新拍摄，确保四角完整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1208" y="4681728"/>
            <a:ext cx="2852928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68172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已收到全部必传材料，正在处理...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147218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逐步引导，不一次性展示清单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1728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像向导一样，一张一张引导车主完成上传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2185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2130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实时识别材料质量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2441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模糊 / 缺角 / 非本人证件，即时提示重拍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289864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843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 7×24h 自动响应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深夜报案也能立即获得引导，无需等待工作时间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43400" y="361188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3557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 H5 直接使用，无需安装 App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09160" y="3867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扫码即用，车主零学习成本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4251960"/>
            <a:ext cx="4709160" cy="5486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目标：材料一次性提交完整率从 ~40% 提升至 ~85%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93776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03  功能 3/5  |  AI 初步定损分析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初步定损分析  —  辅助核赔，减少现场查勘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657600" cy="35204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00" cy="38404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99616"/>
            <a:ext cx="109728" cy="10972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49961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49961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41732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AI 定损分析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3383280" cy="1371600"/>
          </a:xfrm>
          <a:prstGeom prst="rect">
            <a:avLst/>
          </a:prstGeom>
          <a:solidFill>
            <a:srgbClr val="1A3A6A"/>
          </a:solidFill>
          <a:ln w="12700">
            <a:solidFill>
              <a:srgbClr val="2D5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1051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8FC9"/>
                </a:solidFill>
              </a:rPr>
              <a:t>[ 事故现场照片 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2542032"/>
            <a:ext cx="146304" cy="14630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2359152"/>
            <a:ext cx="146304" cy="14630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3273552"/>
            <a:ext cx="146304" cy="14630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AI 分析结果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前保险杠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0" y="3694176"/>
            <a:ext cx="1645920" cy="12801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3694176"/>
            <a:ext cx="1399032" cy="12801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6210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¥2,800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左前叶子板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45920" y="4041648"/>
            <a:ext cx="1645920" cy="12801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4041648"/>
            <a:ext cx="1020470" cy="128016"/>
          </a:xfrm>
          <a:prstGeom prst="rect">
            <a:avLst/>
          </a:prstGeom>
          <a:solidFill>
            <a:srgbClr val="F57C00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9684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¥1,600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315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引擎盖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45920" y="4389120"/>
            <a:ext cx="1645920" cy="12801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389120"/>
            <a:ext cx="740664" cy="128016"/>
          </a:xfrm>
          <a:prstGeom prst="rect">
            <a:avLst/>
          </a:prstGeom>
          <a:solidFill>
            <a:srgbClr val="F9A82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43159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¥3,200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43400" y="147218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上传事故照片 → AI 自动识别损伤部位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1728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标注受损区域，输出初步定损参考报告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2185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130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结合车型数据库给出维修费用估算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2441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参考市场修理价格，给出合理区间而非最终结论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43400" y="289864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2843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辅助理赔员决策，非替代核赔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0916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减少现场查勘频次，加速案件处理效率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361188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34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3557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分析结果可留存于案件档案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09160" y="3867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与后续定损结论对比，持续优化模型准确率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43400" y="4251960"/>
            <a:ext cx="4709160" cy="5486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目标：减少现场查勘需求 30%，加速简单案件核赔效率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2976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03  功能 4/5  |  独立聊天室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独立聊天室  —  绕开微信限制，三方协作一个空间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657600" cy="35204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00" cy="38404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99616"/>
            <a:ext cx="109728" cy="10972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49961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49961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41732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🗨 理赔协作空间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1783080"/>
            <a:ext cx="1072896" cy="256032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783080"/>
            <a:ext cx="107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🚗 车主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30680" y="1783080"/>
            <a:ext cx="1072896" cy="256032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30680" y="1783080"/>
            <a:ext cx="107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🤖 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0152" y="1783080"/>
            <a:ext cx="1072896" cy="256032"/>
          </a:xfrm>
          <a:prstGeom prst="rect">
            <a:avLst/>
          </a:prstGeom>
          <a:solidFill>
            <a:srgbClr val="F9A825">
              <a:alpha val="3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0152" y="1783080"/>
            <a:ext cx="107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👨‍💼 理赔员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2121408"/>
            <a:ext cx="3438144" cy="347472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121408"/>
            <a:ext cx="3319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我的车被追尾了...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2542032"/>
            <a:ext cx="3044952" cy="347472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5420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您好！请问碰撞发生在哪个位置？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" y="2962656"/>
            <a:ext cx="3438144" cy="347472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962656"/>
            <a:ext cx="3319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前保险杠和左侧车门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3383280"/>
            <a:ext cx="3044952" cy="347472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383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请上传现场照片和驾驶证，我来帮您 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3803904"/>
            <a:ext cx="3044952" cy="347472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8039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图片已收到，AI 初步定损：约 ¥4,200~5,800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08760" y="4224528"/>
            <a:ext cx="2450592" cy="347472"/>
          </a:xfrm>
          <a:prstGeom prst="rect">
            <a:avLst/>
          </a:prstGeom>
          <a:solidFill>
            <a:srgbClr val="F9A825">
              <a:alpha val="25000"/>
            </a:srgbClr>
          </a:solidFill>
          <a:ln w="12700">
            <a:solidFill>
              <a:srgbClr val="F9A825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4224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[理赔员接入] 已审核，建议核赔 ¥5,100 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43400" y="147218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为什么不用微信？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1728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微信封禁 AI 机器人，且对话记录归属个人，公司无法管控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2185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130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聊天室，无需安装 App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2441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扫码链接即可进入，车主零门槛，系统独立私有部署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43400" y="289864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2843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优先响应，超出能力自动转人工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0916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理赔员作为后盾，复杂问题一键介入，无缝衔接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361188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34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3557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三方同频，全程透明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09160" y="3867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车主、AI、理赔员在同一对话流，信息不遗漏、不重复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43400" y="4251960"/>
            <a:ext cx="4709160" cy="5486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效果：理赔员单次对话处理案量提升 2-3 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6177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03  功能 5/5  |  全程对话可审计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全程对话可审计  —  合规留痕，纠纷举证有据可查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657600" cy="35204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00" cy="38404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99616"/>
            <a:ext cx="109728" cy="10972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49961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49961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41732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案件审计日志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" y="1828800"/>
            <a:ext cx="0" cy="301752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813816" y="1883664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09:15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27048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🚗 车主发起报案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27048" y="21031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</a:rPr>
              <a:t>王某某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13816" y="2322576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09:15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27048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🤖 AI 自动响应，引导材料上传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27048" y="25420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897B"/>
                </a:solidFill>
              </a:rPr>
              <a:t>AI助手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13816" y="276148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09:32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27048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📄 驾驶证照片上传，识别通过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27048" y="29809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32"/>
                </a:solidFill>
              </a:rPr>
              <a:t>系统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13816" y="3200400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09:48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27048" y="3163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📸 事故照片上传，AI定损分析完成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27048" y="3419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897B"/>
                </a:solidFill>
              </a:rPr>
              <a:t>AI助手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3816" y="3639312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10:05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527048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👨‍💼 理赔员张某接入审核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27048" y="3858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A825"/>
                </a:solidFill>
              </a:rPr>
              <a:t>张某某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13816" y="4078224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10:22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527048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核赔通过，赔付 ¥5,100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27048" y="42976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32"/>
                </a:solidFill>
              </a:rPr>
              <a:t>张某某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13816" y="4517136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" y="4480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10:23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527048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🔒 案件归档，全程加密存储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527048" y="47365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A1B9A"/>
                </a:solidFill>
              </a:rPr>
              <a:t>系统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43400" y="147218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每一条对话、每次上传自动留存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9160" y="1728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系统打时间戳、记录操作人，全部归档，不可篡改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43400" y="2185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09160" y="2130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理赔员操作与 AI 分析结果全记录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09160" y="2441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谁操作、何时操作、操作结果，一目了然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43400" y="289864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09160" y="2843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一键导出完整案件记录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70916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监管检查 / 纠纷仲裁 / 内部复核，随时提取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343400" y="361188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434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09160" y="3557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满足保险监管局理赔全流程留痕要求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709160" y="3867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从报案到赔付，每个环节有迹可查，合规无忧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43400" y="4251960"/>
            <a:ext cx="4709160" cy="5486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2628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效果：骗保识别率提升，纠纷举证效率大幅改善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3375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04  核心价值 &amp; ROI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量化收益  —  理赔效率全面提升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1920240" cy="1143000"/>
          </a:xfrm>
          <a:prstGeom prst="rect">
            <a:avLst/>
          </a:prstGeom>
          <a:solidFill>
            <a:srgbClr val="00897B">
              <a:alpha val="10000"/>
            </a:srgbClr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64008" cy="1143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8132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减少重复沟通工作量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AI 托管日常问答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389888"/>
            <a:ext cx="1920240" cy="1143000"/>
          </a:xfrm>
          <a:prstGeom prst="rect">
            <a:avLst/>
          </a:prstGeom>
          <a:solidFill>
            <a:srgbClr val="1565C0">
              <a:alpha val="10000"/>
            </a:srgbClr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389888"/>
            <a:ext cx="6400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48132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78608" y="20756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理赔员单日处理量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78608" y="2322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效率倍增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17136" y="1389888"/>
            <a:ext cx="1920240" cy="1143000"/>
          </a:xfrm>
          <a:prstGeom prst="rect">
            <a:avLst/>
          </a:prstGeom>
          <a:solidFill>
            <a:srgbClr val="E53935">
              <a:alpha val="10000"/>
            </a:srgbClr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17136" y="1389888"/>
            <a:ext cx="64008" cy="1143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48132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1天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08576" y="20756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材料收集周期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08576" y="2322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从 3-5 天缩短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47104" y="1389888"/>
            <a:ext cx="1920240" cy="1143000"/>
          </a:xfrm>
          <a:prstGeom prst="rect">
            <a:avLst/>
          </a:prstGeom>
          <a:solidFill>
            <a:srgbClr val="6A1B9A">
              <a:alpha val="10000"/>
            </a:srgbClr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7104" y="1389888"/>
            <a:ext cx="64008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148132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638544" y="20756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深夜报案等待时间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38544" y="2322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7×24h 自动响应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2212848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37744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现状基线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引入 AI 后（预期）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改善幅度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单案平均沟通次数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 次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≤ 3 次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↓ 70%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材料收集周期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3-5 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≤ 1 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↓ 80%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单理赔员日处理案量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X 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2 - 3X 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↑ 200%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车主满意度 NPS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现有基线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+15 ~ +25 分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显著提升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深夜 / 节假日响应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次日处理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实时自动响应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体验革命性改变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97480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05  为什么选我们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四大竞争优势  —  快速落地，持续进化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64008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93592" y="1536192"/>
            <a:ext cx="822960" cy="237744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536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开箱即用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1956816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完整的理赔配置能力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" y="2304288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系统已具备理赔材料管理、理赔项目配置、案件流转全套功能，非从零开始，快速交付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38988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389888"/>
            <a:ext cx="64008" cy="1554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754112" y="1536192"/>
            <a:ext cx="822960" cy="237744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54112" y="1536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低技术依赖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82312" y="1956816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业务人员自主配置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82312" y="2304288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理赔材料清单、规则调整，业务团队直接操作，无需每次找技术介入，灵活响应业务变化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3580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35808"/>
            <a:ext cx="64008" cy="1554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3593592" y="3182112"/>
            <a:ext cx="822960" cy="237744"/>
          </a:xfrm>
          <a:prstGeom prst="rect">
            <a:avLst/>
          </a:prstGeom>
          <a:solidFill>
            <a:srgbClr val="E53935">
              <a:alpha val="15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3182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数据不出库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3602736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独立部署，数据安全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" y="3950208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系统私有化部署在贵公司服务器，所有理赔数据不经过第三方，满足保险行业数据安全要求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303580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3035808"/>
            <a:ext cx="64008" cy="1554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754112" y="3182112"/>
            <a:ext cx="822960" cy="237744"/>
          </a:xfrm>
          <a:prstGeom prst="rect">
            <a:avLst/>
          </a:prstGeom>
          <a:solidFill>
            <a:srgbClr val="F57C00">
              <a:alpha val="15000"/>
            </a:srgbClr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3182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低风险试点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82312" y="3602736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快速接入，风险可控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82312" y="3950208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标准化部署方案，4-6 周内上线首个险种试点；模块化设计，按需扩展，不影响现有系统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97480" cy="2743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06  合作落地计划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三阶段落地  —  低风险快速验证，逐步规模化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768096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29968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91440" y="2514600"/>
            <a:ext cx="25603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-91440" y="2514600"/>
            <a:ext cx="256032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第一阶段  试点验证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" y="2807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DEFFF"/>
                </a:solidFill>
              </a:rPr>
              <a:t>⏱ 4-6 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3310128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选 1 个险种 + 1 个区域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接入 5-10 名理赔员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005072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3895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跑通完整理赔流程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352544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收集数据与反馈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-91440" y="4617720"/>
            <a:ext cx="2560320" cy="32004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-91440" y="4617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低风险 · 快速见效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-91440" y="1664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第一阶段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50208" y="202996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2514600"/>
            <a:ext cx="25603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0" y="2514600"/>
            <a:ext cx="256032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第二阶段  扩展推广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35808" y="2807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DEFFF"/>
                </a:solidFill>
              </a:rPr>
              <a:t>⏱ 2-3 个月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17520" y="3310128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扩展至更多险种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17520" y="365760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接入更多理赔员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17520" y="4005072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895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AI 模型持续优化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17520" y="4352544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开放管理报表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26080" y="4617720"/>
            <a:ext cx="2560320" cy="32004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4617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扩规模 · 沉淀数据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0" y="1664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第二阶段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93408" y="2029968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2514600"/>
            <a:ext cx="25603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69280" y="2514600"/>
            <a:ext cx="2560320" cy="5669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第三阶段  规模化运营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79008" y="2807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DEFFF"/>
                </a:solidFill>
              </a:rPr>
              <a:t>⏱ 持续演进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60720" y="3310128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全险种 / 全区域覆盖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760720" y="3657600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接入监管报送接口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60720" y="4005072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3895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骗保风控模型接入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760720" y="4352544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持续迭代优化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0" y="4617720"/>
            <a:ext cx="2560320" cy="320040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4617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</a:rPr>
              <a:t>全覆盖 · 持续进化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69280" y="1664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第三阶段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377440" y="2194560"/>
            <a:ext cx="566928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66360" y="2194560"/>
            <a:ext cx="566928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* 建议以 1 个险种、1 个区域为起点，4-6 周完成试点验证后，再决定是否扩展。降低决策风险，快速见到实效。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三句话总结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1417320"/>
            <a:ext cx="0" cy="32004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14300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理赔员时间很贵，不应该花在重复问答上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97280" y="2240280"/>
            <a:ext cx="0" cy="32004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96596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7×24h AI 响应是车主体验的竞争差异化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862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097280" y="3063240"/>
            <a:ext cx="0" cy="32004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78892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全程可审计，是合规压力下的必要基础设施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8046720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0332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建议下一步：安排一次 2 小时系统演示  —  您来定时间，我们来准备  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方案演示  |  AI 智能车险理赔助手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智能车险理赔助手方案</dc:title>
  <dc:subject>PptxGenJS Presentation</dc:subject>
  <dc:creator>AI Insurance Team</dc:creator>
  <cp:lastModifiedBy>AI Insurance Team</cp:lastModifiedBy>
  <cp:revision>1</cp:revision>
  <dcterms:created xsi:type="dcterms:W3CDTF">2026-03-02T05:56:08Z</dcterms:created>
  <dcterms:modified xsi:type="dcterms:W3CDTF">2026-03-02T05:56:08Z</dcterms:modified>
</cp:coreProperties>
</file>